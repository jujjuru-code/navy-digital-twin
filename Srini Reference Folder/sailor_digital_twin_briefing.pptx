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1080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Sailors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Career Stagnation</c:v>
                </c:pt>
                <c:pt idx="1">
                  <c:v>Compensation</c:v>
                </c:pt>
                <c:pt idx="2">
                  <c:v>Engagement</c:v>
                </c:pt>
                <c:pt idx="3">
                  <c:v>Quality of Life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398</c:v>
                </c:pt>
                <c:pt idx="1">
                  <c:v>287</c:v>
                </c:pt>
                <c:pt idx="2">
                  <c:v>165</c:v>
                </c:pt>
                <c:pt idx="3">
                  <c:v>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D2-429E-98A3-A22D1FD78DC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C7D5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Readiness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60B-4294-A9F5-8087969F6251}"/>
              </c:ext>
            </c:extLst>
          </c:dPt>
          <c:dPt>
            <c:idx val="1"/>
            <c:bubble3D val="0"/>
            <c:spPr>
              <a:solidFill>
                <a:srgbClr val="B89B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60B-4294-A9F5-8087969F6251}"/>
              </c:ext>
            </c:extLst>
          </c:dPt>
          <c:dPt>
            <c:idx val="2"/>
            <c:bubble3D val="0"/>
            <c:spPr>
              <a:solidFill>
                <a:srgbClr val="C7D5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60B-4294-A9F5-8087969F6251}"/>
              </c:ext>
            </c:extLst>
          </c:dPt>
          <c:dPt>
            <c:idx val="3"/>
            <c:bubble3D val="0"/>
            <c:spPr>
              <a:solidFill>
                <a:srgbClr val="B23B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60B-4294-A9F5-8087969F6251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60B-4294-A9F5-8087969F6251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60B-4294-A9F5-8087969F6251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60B-4294-A9F5-8087969F6251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60B-4294-A9F5-8087969F625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Highly Competitive</c:v>
                </c:pt>
                <c:pt idx="1">
                  <c:v>Competitive</c:v>
                </c:pt>
                <c:pt idx="2">
                  <c:v>Approaching</c:v>
                </c:pt>
                <c:pt idx="3">
                  <c:v>Needs Development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1813</c:v>
                </c:pt>
                <c:pt idx="1">
                  <c:v>1033</c:v>
                </c:pt>
                <c:pt idx="2">
                  <c:v>1320</c:v>
                </c:pt>
                <c:pt idx="3">
                  <c:v>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60B-4294-A9F5-8087969F62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A1A1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6768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7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89B3D"/>
          </a:solidFill>
          <a:ln w="12700">
            <a:solidFill>
              <a:srgbClr val="B89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914400"/>
            <a:ext cx="777240" cy="777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828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SAILOR DIGITAL TWIN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40080" y="2377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D4B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Vision to Working Proof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40080" y="3108960"/>
            <a:ext cx="5943600" cy="36576"/>
          </a:xfrm>
          <a:prstGeom prst="rect">
            <a:avLst/>
          </a:prstGeom>
          <a:solidFill>
            <a:srgbClr val="B89B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7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 Data First. Sailor Always. Digital Twin Built Right.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MyNavy HR Organization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43891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briefing  •  26 April 2026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47548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9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// PRE-DECISIONAL — UNCLASSIFIED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// PRE-DECISIONAL — UNCLASSIFIED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// PRE-DECISIONAL — UNCLASSIFIED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We're Solving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Sailor. Many systems. No single authoritative truth.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108960" cy="288036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91440" cy="2880360"/>
          </a:xfrm>
          <a:prstGeom prst="rect">
            <a:avLst/>
          </a:prstGeom>
          <a:solidFill>
            <a:srgbClr val="B89B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B89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210K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elements scattered across the MyNavy HR enterprise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017520"/>
            <a:ext cx="2743200" cy="0"/>
          </a:xfrm>
          <a:prstGeom prst="line">
            <a:avLst/>
          </a:prstGeom>
          <a:noFill/>
          <a:ln w="12700">
            <a:solidFill>
              <a:srgbClr val="D4B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Sailor.
</a:t>
            </a:r>
            <a:r>
              <a:rPr lang="en-US" sz="1150" i="1" dirty="0">
                <a:solidFill>
                  <a:srgbClr val="C7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answers in different systems.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40480" y="1280160"/>
            <a:ext cx="4846320" cy="841248"/>
          </a:xfrm>
          <a:prstGeom prst="rect">
            <a:avLst/>
          </a:prstGeom>
          <a:solidFill>
            <a:srgbClr val="EAF0F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840480" y="1280160"/>
            <a:ext cx="73152" cy="841248"/>
          </a:xfrm>
          <a:prstGeom prst="rect">
            <a:avLst/>
          </a:prstGeom>
          <a:solidFill>
            <a:srgbClr val="B23B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1399032"/>
            <a:ext cx="365760" cy="365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572000" y="133502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572000" y="1664208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and personnel actions wrong. Sailor and command rework.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840480" y="2240280"/>
            <a:ext cx="4846320" cy="841248"/>
          </a:xfrm>
          <a:prstGeom prst="rect">
            <a:avLst/>
          </a:prstGeom>
          <a:solidFill>
            <a:srgbClr val="EAF0F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840480" y="2240280"/>
            <a:ext cx="73152" cy="841248"/>
          </a:xfrm>
          <a:prstGeom prst="rect">
            <a:avLst/>
          </a:prstGeom>
          <a:solidFill>
            <a:srgbClr val="C8810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80" y="2359152"/>
            <a:ext cx="365760" cy="3657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572000" y="229514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4572000" y="2624328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lifecycle processes slip. Decisions wait on data.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3840480" y="3200400"/>
            <a:ext cx="4846320" cy="841248"/>
          </a:xfrm>
          <a:prstGeom prst="rect">
            <a:avLst/>
          </a:prstGeom>
          <a:solidFill>
            <a:srgbClr val="EAF0F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3840480" y="3200400"/>
            <a:ext cx="73152" cy="841248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9080" y="3319272"/>
            <a:ext cx="365760" cy="36576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572000" y="325526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Erosion of trust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4572000" y="3584448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 second-guess the data. Reports get shadow-validated.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solidFill>
            <a:srgbClr val="EAF0F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457200" y="4343400"/>
            <a:ext cx="91440" cy="457200"/>
          </a:xfrm>
          <a:prstGeom prst="rect">
            <a:avLst/>
          </a:prstGeom>
          <a:solidFill>
            <a:srgbClr val="B89B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640080" y="43434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issue is not the number of systems or a lack of data — it's the absence of a single, authoritative representation of the Sailor.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8229600" y="47548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// PRE-DECISIONAL — UNCLASSIFIED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// PRE-DECISIONAL — UNCLASSIFIED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Sailor Digital Twin 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auditable, event-driven digital representation — federated across 7 core domains.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931920" y="1783080"/>
            <a:ext cx="1280160" cy="128016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B89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931920" y="18745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Sailor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931920" y="22860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4B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 ID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931920" y="25146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C7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identity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 flipV="1">
            <a:off x="4572000" y="1463040"/>
            <a:ext cx="0" cy="274320"/>
          </a:xfrm>
          <a:prstGeom prst="line">
            <a:avLst/>
          </a:prstGeom>
          <a:noFill/>
          <a:ln w="12700">
            <a:solidFill>
              <a:srgbClr val="C7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931920" y="1028700"/>
            <a:ext cx="1280160" cy="411480"/>
          </a:xfrm>
          <a:prstGeom prst="roundRect">
            <a:avLst>
              <a:gd name="adj" fmla="val 15556"/>
            </a:avLst>
          </a:prstGeom>
          <a:solidFill>
            <a:srgbClr val="EAF0F7"/>
          </a:solidFill>
          <a:ln w="12700">
            <a:solidFill>
              <a:srgbClr val="C7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120140"/>
            <a:ext cx="219456" cy="21945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297680" y="102870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 flipV="1">
            <a:off x="5112418" y="1832051"/>
            <a:ext cx="1405086" cy="168888"/>
          </a:xfrm>
          <a:prstGeom prst="line">
            <a:avLst/>
          </a:prstGeom>
          <a:noFill/>
          <a:ln w="12700">
            <a:solidFill>
              <a:srgbClr val="C7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381814" y="1485571"/>
            <a:ext cx="1280160" cy="411480"/>
          </a:xfrm>
          <a:prstGeom prst="roundRect">
            <a:avLst>
              <a:gd name="adj" fmla="val 15556"/>
            </a:avLst>
          </a:prstGeom>
          <a:solidFill>
            <a:srgbClr val="EAF0F7"/>
          </a:solidFill>
          <a:ln w="12700">
            <a:solidFill>
              <a:srgbClr val="C7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254" y="1577011"/>
            <a:ext cx="219456" cy="21945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747574" y="1485571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237429" y="2589070"/>
            <a:ext cx="1730115" cy="66364"/>
          </a:xfrm>
          <a:prstGeom prst="line">
            <a:avLst/>
          </a:prstGeom>
          <a:noFill/>
          <a:ln w="12700">
            <a:solidFill>
              <a:srgbClr val="C7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948531" y="2504997"/>
            <a:ext cx="1280160" cy="411480"/>
          </a:xfrm>
          <a:prstGeom prst="roundRect">
            <a:avLst>
              <a:gd name="adj" fmla="val 15556"/>
            </a:avLst>
          </a:prstGeom>
          <a:solidFill>
            <a:srgbClr val="EAF0F7"/>
          </a:solidFill>
          <a:ln w="12700">
            <a:solidFill>
              <a:srgbClr val="C7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9971" y="2596437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314291" y="2504997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850940" y="3049669"/>
            <a:ext cx="725244" cy="250604"/>
          </a:xfrm>
          <a:prstGeom prst="line">
            <a:avLst/>
          </a:prstGeom>
          <a:noFill/>
          <a:ln w="12700">
            <a:solidFill>
              <a:srgbClr val="C7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5196448" y="3303370"/>
            <a:ext cx="1280160" cy="411480"/>
          </a:xfrm>
          <a:prstGeom prst="roundRect">
            <a:avLst>
              <a:gd name="adj" fmla="val 15556"/>
            </a:avLst>
          </a:prstGeom>
          <a:solidFill>
            <a:srgbClr val="EAF0F7"/>
          </a:solidFill>
          <a:ln w="12700">
            <a:solidFill>
              <a:srgbClr val="C7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7888" y="3394810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562208" y="330337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Manpower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 flipH="1">
            <a:off x="3412931" y="3028685"/>
            <a:ext cx="837105" cy="242210"/>
          </a:xfrm>
          <a:prstGeom prst="line">
            <a:avLst/>
          </a:prstGeom>
          <a:noFill/>
          <a:ln w="12700">
            <a:solidFill>
              <a:srgbClr val="C7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2472352" y="3266997"/>
            <a:ext cx="1280160" cy="411480"/>
          </a:xfrm>
          <a:prstGeom prst="roundRect">
            <a:avLst>
              <a:gd name="adj" fmla="val 15556"/>
            </a:avLst>
          </a:prstGeom>
          <a:solidFill>
            <a:srgbClr val="EAF0F7"/>
          </a:solidFill>
          <a:ln w="12700">
            <a:solidFill>
              <a:srgbClr val="C7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3792" y="3358437"/>
            <a:ext cx="219456" cy="21945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2838112" y="3266997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 flipH="1">
            <a:off x="2140628" y="2542248"/>
            <a:ext cx="1755991" cy="47635"/>
          </a:xfrm>
          <a:prstGeom prst="line">
            <a:avLst/>
          </a:prstGeom>
          <a:noFill/>
          <a:ln w="12700">
            <a:solidFill>
              <a:srgbClr val="C7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870192" y="2423839"/>
            <a:ext cx="1280160" cy="411480"/>
          </a:xfrm>
          <a:prstGeom prst="roundRect">
            <a:avLst>
              <a:gd name="adj" fmla="val 15556"/>
            </a:avLst>
          </a:prstGeom>
          <a:solidFill>
            <a:srgbClr val="EAF0F7"/>
          </a:solidFill>
          <a:ln w="12700">
            <a:solidFill>
              <a:srgbClr val="C7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1632" y="2515279"/>
            <a:ext cx="219456" cy="21945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235952" y="2423839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 flipH="1" flipV="1">
            <a:off x="2737265" y="1780714"/>
            <a:ext cx="1325087" cy="183556"/>
          </a:xfrm>
          <a:prstGeom prst="line">
            <a:avLst/>
          </a:prstGeom>
          <a:noFill/>
          <a:ln w="12700">
            <a:solidFill>
              <a:srgbClr val="C7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7"/>
          <p:cNvSpPr/>
          <p:nvPr/>
        </p:nvSpPr>
        <p:spPr>
          <a:xfrm>
            <a:off x="1621512" y="1422011"/>
            <a:ext cx="1280160" cy="411480"/>
          </a:xfrm>
          <a:prstGeom prst="roundRect">
            <a:avLst>
              <a:gd name="adj" fmla="val 15556"/>
            </a:avLst>
          </a:prstGeom>
          <a:solidFill>
            <a:srgbClr val="EAF0F7"/>
          </a:solidFill>
          <a:ln w="12700">
            <a:solidFill>
              <a:srgbClr val="C7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2952" y="1513451"/>
            <a:ext cx="219456" cy="21945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987272" y="1422011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Recruiting</a:t>
            </a:r>
            <a:endParaRPr lang="en-US" sz="1050" dirty="0"/>
          </a:p>
        </p:txBody>
      </p:sp>
      <p:sp>
        <p:nvSpPr>
          <p:cNvPr id="38" name="Shape 29"/>
          <p:cNvSpPr/>
          <p:nvPr/>
        </p:nvSpPr>
        <p:spPr>
          <a:xfrm>
            <a:off x="457200" y="4251960"/>
            <a:ext cx="269748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0"/>
          <p:cNvSpPr/>
          <p:nvPr/>
        </p:nvSpPr>
        <p:spPr>
          <a:xfrm>
            <a:off x="566928" y="4261104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9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Sailor, one identity</a:t>
            </a:r>
            <a:endParaRPr lang="en-US" sz="1100" dirty="0"/>
          </a:p>
        </p:txBody>
      </p:sp>
      <p:sp>
        <p:nvSpPr>
          <p:cNvPr id="40" name="Text 31"/>
          <p:cNvSpPr/>
          <p:nvPr/>
        </p:nvSpPr>
        <p:spPr>
          <a:xfrm>
            <a:off x="566928" y="449884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7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domain joins to a single DoD ID</a:t>
            </a:r>
            <a:endParaRPr lang="en-US" sz="950" dirty="0"/>
          </a:p>
        </p:txBody>
      </p:sp>
      <p:sp>
        <p:nvSpPr>
          <p:cNvPr id="41" name="Shape 32"/>
          <p:cNvSpPr/>
          <p:nvPr/>
        </p:nvSpPr>
        <p:spPr>
          <a:xfrm>
            <a:off x="3246120" y="4251960"/>
            <a:ext cx="269748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3"/>
          <p:cNvSpPr/>
          <p:nvPr/>
        </p:nvSpPr>
        <p:spPr>
          <a:xfrm>
            <a:off x="3355848" y="4261104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9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Federation, not replication</a:t>
            </a:r>
            <a:endParaRPr lang="en-US" sz="1100" dirty="0"/>
          </a:p>
        </p:txBody>
      </p:sp>
      <p:sp>
        <p:nvSpPr>
          <p:cNvPr id="43" name="Text 34"/>
          <p:cNvSpPr/>
          <p:nvPr/>
        </p:nvSpPr>
        <p:spPr>
          <a:xfrm>
            <a:off x="3355848" y="449884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7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systems remain authoritative</a:t>
            </a:r>
            <a:endParaRPr lang="en-US" sz="950" dirty="0"/>
          </a:p>
        </p:txBody>
      </p:sp>
      <p:sp>
        <p:nvSpPr>
          <p:cNvPr id="44" name="Shape 35"/>
          <p:cNvSpPr/>
          <p:nvPr/>
        </p:nvSpPr>
        <p:spPr>
          <a:xfrm>
            <a:off x="6035040" y="4251960"/>
            <a:ext cx="269748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6"/>
          <p:cNvSpPr/>
          <p:nvPr/>
        </p:nvSpPr>
        <p:spPr>
          <a:xfrm>
            <a:off x="6144768" y="4261104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9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Event-driven, auditable</a:t>
            </a:r>
            <a:endParaRPr lang="en-US" sz="1100" dirty="0"/>
          </a:p>
        </p:txBody>
      </p:sp>
      <p:sp>
        <p:nvSpPr>
          <p:cNvPr id="46" name="Text 37"/>
          <p:cNvSpPr/>
          <p:nvPr/>
        </p:nvSpPr>
        <p:spPr>
          <a:xfrm>
            <a:off x="6144768" y="449884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7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replayable end-to-end</a:t>
            </a:r>
            <a:endParaRPr lang="en-US" sz="950" dirty="0"/>
          </a:p>
        </p:txBody>
      </p:sp>
      <p:sp>
        <p:nvSpPr>
          <p:cNvPr id="47" name="Text 38"/>
          <p:cNvSpPr/>
          <p:nvPr/>
        </p:nvSpPr>
        <p:spPr>
          <a:xfrm>
            <a:off x="8229600" y="47548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// PRE-DECISIONAL — UNCLASSIFIED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// PRE-DECISIONAL — UNCLASSIFIED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Not Starting From Scratch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Narrowing fragmented enterprise data to an authoritative foundation.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0060" y="1417320"/>
            <a:ext cx="2423160" cy="201168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80060" y="1417320"/>
            <a:ext cx="2423160" cy="91440"/>
          </a:xfrm>
          <a:prstGeom prst="rect">
            <a:avLst/>
          </a:prstGeom>
          <a:solidFill>
            <a:srgbClr val="B89B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17220" y="16916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~210K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617220" y="25146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Elements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2940" y="28803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MyNavy HR Enterprise; fragmented across systems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60420" y="1417320"/>
            <a:ext cx="2423160" cy="2011680"/>
          </a:xfrm>
          <a:prstGeom prst="rect">
            <a:avLst/>
          </a:prstGeom>
          <a:solidFill>
            <a:srgbClr val="1217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60420" y="1417320"/>
            <a:ext cx="2423160" cy="91440"/>
          </a:xfrm>
          <a:prstGeom prst="rect">
            <a:avLst/>
          </a:prstGeom>
          <a:solidFill>
            <a:srgbClr val="B89B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97580" y="16916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~16K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3497580" y="25146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Terms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43300" y="28803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in the data lake; structured for enterprise use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40780" y="1417320"/>
            <a:ext cx="2423160" cy="2011680"/>
          </a:xfrm>
          <a:prstGeom prst="rect">
            <a:avLst/>
          </a:prstGeom>
          <a:solidFill>
            <a:srgbClr val="B89B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40780" y="1417320"/>
            <a:ext cx="242316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77940" y="16916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~5,100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6377940" y="25146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 Terms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23660" y="28803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 SSOT tables across 54 source systems</a:t>
            </a:r>
            <a:endParaRPr lang="en-US" sz="95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8940" y="2240280"/>
            <a:ext cx="365760" cy="365760"/>
          </a:xfrm>
          <a:prstGeom prst="rect">
            <a:avLst/>
          </a:prstGeom>
        </p:spPr>
      </p:pic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0" y="2240280"/>
            <a:ext cx="365760" cy="36576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411480" y="3840480"/>
            <a:ext cx="8321040" cy="777240"/>
          </a:xfrm>
          <a:prstGeom prst="rect">
            <a:avLst/>
          </a:prstGeom>
          <a:solidFill>
            <a:srgbClr val="EAF0F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411480" y="3840480"/>
            <a:ext cx="91440" cy="777240"/>
          </a:xfrm>
          <a:prstGeom prst="rect">
            <a:avLst/>
          </a:prstGeom>
          <a:solidFill>
            <a:srgbClr val="B89B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640080" y="38404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is not technical.  </a:t>
            </a: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alignment and ownership.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8229600" y="47548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// PRE-DECISIONAL — UNCLASSIFIED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// PRE-DECISIONAL — UNCLASSIFIED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Vision to Working Proof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on a slide is easy. We built a runnable demonstration.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3200400"/>
          </a:xfrm>
          <a:prstGeom prst="rect">
            <a:avLst/>
          </a:prstGeom>
          <a:solidFill>
            <a:srgbClr val="EAF0F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4023360" cy="457200"/>
          </a:xfrm>
          <a:prstGeom prst="rect">
            <a:avLst/>
          </a:prstGeom>
          <a:solidFill>
            <a:srgbClr val="C7D5E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2801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Vision  (21 APR 2026)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37490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Concept: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Authoritative, event-driven Sailor representation across 7 domains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aligned: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 CIO  •  ASN (M&amp;RA)  •  CNP/N16  •  PMW-240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question: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technically real, or only architectural ambition?</a:t>
            </a:r>
            <a:endParaRPr lang="en-US" sz="12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2697480"/>
            <a:ext cx="457200" cy="4572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029200" y="1280160"/>
            <a:ext cx="365760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029200" y="1280160"/>
            <a:ext cx="3657600" cy="457200"/>
          </a:xfrm>
          <a:prstGeom prst="rect">
            <a:avLst/>
          </a:prstGeom>
          <a:solidFill>
            <a:srgbClr val="B89B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166360" y="1280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POC  (today)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212080" y="18745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B89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6766560" y="18745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Sailors (no PII)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212080" y="24688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B89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6766560" y="24688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domains modeled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212080" y="30632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B89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50,526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6766560" y="30632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 events generated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212080" y="3657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B89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6766560" y="36576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running end-to-end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229600" y="47548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// PRE-DECISIONAL — UNCLASSIFIED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// PRE-DECISIONAL — UNCLASSIFIED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High-Value Scenarios Demonstrated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addresses a distinct, measurable pain point.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9319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393192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35024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1887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Risk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40080" y="205740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B89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at risk of leaving — and why?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2423160"/>
            <a:ext cx="3520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 risk by driver, not just level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Compensation, Career Stagnation, QoL, Engagement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the right intervention at the right time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critical-rate Sailors automatically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4160520"/>
            <a:ext cx="3931920" cy="548640"/>
          </a:xfrm>
          <a:prstGeom prst="rect">
            <a:avLst/>
          </a:prstGeom>
          <a:solidFill>
            <a:srgbClr val="EAF0F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57200" y="4160520"/>
            <a:ext cx="91440" cy="548640"/>
          </a:xfrm>
          <a:prstGeom prst="rect">
            <a:avLst/>
          </a:prstGeom>
          <a:solidFill>
            <a:srgbClr val="B89B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85800" y="41605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 High Risk  •  308 Critical-Rate at Risk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617720" y="1188720"/>
            <a:ext cx="39319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617720" y="1188720"/>
            <a:ext cx="393192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335024"/>
            <a:ext cx="502920" cy="5029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440680" y="11887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Readiness</a:t>
            </a:r>
            <a:endParaRPr lang="en-US" sz="1900" dirty="0"/>
          </a:p>
        </p:txBody>
      </p:sp>
      <p:sp>
        <p:nvSpPr>
          <p:cNvPr id="19" name="Text 15"/>
          <p:cNvSpPr/>
          <p:nvPr/>
        </p:nvSpPr>
        <p:spPr>
          <a:xfrm>
            <a:off x="4800600" y="205740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B89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competitive — and what's blocking the rest?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892040" y="2423160"/>
            <a:ext cx="3520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competitiveness, not just eligibility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specific, closeable gaps per Sailor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gaps to PQS, schools, exam cycles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views: Sailor-facing and Detailer-facing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617720" y="4160520"/>
            <a:ext cx="3931920" cy="548640"/>
          </a:xfrm>
          <a:prstGeom prst="rect">
            <a:avLst/>
          </a:prstGeom>
          <a:solidFill>
            <a:srgbClr val="EAF0F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4617720" y="4160520"/>
            <a:ext cx="91440" cy="548640"/>
          </a:xfrm>
          <a:prstGeom prst="rect">
            <a:avLst/>
          </a:prstGeom>
          <a:solidFill>
            <a:srgbClr val="B89B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4846320" y="41605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1,813 Highly Competitive  •  1,320 Approaching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8229600" y="47548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// PRE-DECISIONAL — UNCLASSIFIED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// PRE-DECISIONAL — UNCLASSIFIED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Risk — POC Output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results from 5,000 synthetic Active Duty enlisted Sailors.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920240" cy="1188720"/>
          </a:xfrm>
          <a:prstGeom prst="rect">
            <a:avLst/>
          </a:prstGeom>
          <a:solidFill>
            <a:srgbClr val="EAF0F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1920240" cy="73152"/>
          </a:xfrm>
          <a:prstGeom prst="rect">
            <a:avLst/>
          </a:prstGeom>
          <a:solidFill>
            <a:srgbClr val="B23B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3258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103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≥ 50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0" y="1234440"/>
            <a:ext cx="1920240" cy="1188720"/>
          </a:xfrm>
          <a:prstGeom prst="rect">
            <a:avLst/>
          </a:prstGeom>
          <a:solidFill>
            <a:srgbClr val="EAF0F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60320" y="1234440"/>
            <a:ext cx="1920240" cy="73152"/>
          </a:xfrm>
          <a:prstGeom prst="rect">
            <a:avLst/>
          </a:prstGeom>
          <a:solidFill>
            <a:srgbClr val="C8810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51760" y="13258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881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651760" y="1828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51760" y="2103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30–49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1234440"/>
            <a:ext cx="1920240" cy="1188720"/>
          </a:xfrm>
          <a:prstGeom prst="rect">
            <a:avLst/>
          </a:prstGeom>
          <a:solidFill>
            <a:srgbClr val="EAF0F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63440" y="1234440"/>
            <a:ext cx="192024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0" y="13258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308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754880" y="1828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Critical-Rate at Risk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2103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Cyber, Nuclear, Submarine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766560" y="1234440"/>
            <a:ext cx="1920240" cy="1188720"/>
          </a:xfrm>
          <a:prstGeom prst="rect">
            <a:avLst/>
          </a:prstGeom>
          <a:solidFill>
            <a:srgbClr val="EAF0F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766560" y="1234440"/>
            <a:ext cx="192024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58000" y="13258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2,328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858000" y="1828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EAOS Window (≤18 mo)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0" y="2103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Decision-window cohort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2606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Primary Risk Drivers — High &amp; Medium Risk Sailors</a:t>
            </a:r>
            <a:endParaRPr lang="en-US" sz="1200" dirty="0"/>
          </a:p>
        </p:txBody>
      </p:sp>
      <p:graphicFrame>
        <p:nvGraphicFramePr>
          <p:cNvPr id="27" name="Chart 0"/>
          <p:cNvGraphicFramePr/>
          <p:nvPr/>
        </p:nvGraphicFramePr>
        <p:xfrm>
          <a:off x="457200" y="2926080"/>
          <a:ext cx="534924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Shape 25"/>
          <p:cNvSpPr/>
          <p:nvPr/>
        </p:nvSpPr>
        <p:spPr>
          <a:xfrm>
            <a:off x="5989320" y="2926080"/>
            <a:ext cx="2697480" cy="169164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126480" y="2971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9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126480" y="3246120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stagnation drives the largest at-risk cohort. The intervention is career counseling and NEC roadmaps — not bonus money. Different drivers need different responses, and the data tells us which.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8229600" y="47548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// PRE-DECISIONAL — UNCLASSIFIED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// PRE-DECISIONAL — UNCLASSIFIED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Risk — How the Score Works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Transparent, auditable scoring rules. Built from real Navy data signals.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Sailor scored 0–100 across 4 dimensions, each contributing up to 25 points. </a:t>
            </a: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thresholds: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≥50 High  •  30–49 Medium  •  15–29 Low  •  &lt;15 Minimal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19202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1920240" cy="411480"/>
          </a:xfrm>
          <a:prstGeom prst="rect">
            <a:avLst/>
          </a:prstGeom>
          <a:solidFill>
            <a:srgbClr val="B89B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6072" y="2148840"/>
            <a:ext cx="1691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EAOS window with no SRB activity   +10</a:t>
            </a:r>
            <a:endParaRPr lang="en-US" sz="9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SRB present but multiplier &lt;2.0   +5</a:t>
            </a:r>
            <a:endParaRPr lang="en-US" sz="9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≥2 dependents (cost-of-living press)   +5</a:t>
            </a:r>
            <a:endParaRPr lang="en-US" sz="9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EFM enrolled (added complexity)   +5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0" y="1645920"/>
            <a:ext cx="19202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60320" y="1645920"/>
            <a:ext cx="192024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51760" y="16459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Stagnation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79192" y="2148840"/>
            <a:ext cx="1691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 &gt; paygrade-specific threshold   +15</a:t>
            </a:r>
            <a:endParaRPr lang="en-US" sz="9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EP/MP recommendations recent   +5</a:t>
            </a:r>
            <a:endParaRPr lang="en-US" sz="9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FITREP trait avg &lt; 3.5   +5</a:t>
            </a:r>
            <a:endParaRPr lang="en-US" sz="9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(Threshold: E5 &gt; 60mo, E6 &gt; 72mo)   —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1645920"/>
            <a:ext cx="19202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63440" y="1645920"/>
            <a:ext cx="1920240" cy="411480"/>
          </a:xfrm>
          <a:prstGeom prst="rect">
            <a:avLst/>
          </a:prstGeom>
          <a:solidFill>
            <a:srgbClr val="2E7D5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0" y="16459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of Life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82312" y="2148840"/>
            <a:ext cx="1691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≥3 consecutive sea tours   +10</a:t>
            </a:r>
            <a:endParaRPr lang="en-US" sz="9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≥4 sea tours total   +5</a:t>
            </a:r>
            <a:endParaRPr lang="en-US" sz="9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sea + ≥2 dependents   +5</a:t>
            </a:r>
            <a:endParaRPr lang="en-US" sz="9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EFM enrollment present   +5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66560" y="1645920"/>
            <a:ext cx="19202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766560" y="1645920"/>
            <a:ext cx="1920240" cy="411480"/>
          </a:xfrm>
          <a:prstGeom prst="rect">
            <a:avLst/>
          </a:prstGeom>
          <a:solidFill>
            <a:srgbClr val="B23B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0" y="16459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85432" y="2148840"/>
            <a:ext cx="1691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FITREP trait avg &lt; 3.5   +10</a:t>
            </a:r>
            <a:endParaRPr lang="en-US" sz="9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FITREP trait avg &lt; 3.0   +5</a:t>
            </a:r>
            <a:endParaRPr lang="en-US" sz="9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non-deployable   +5</a:t>
            </a:r>
            <a:endParaRPr lang="en-US" sz="9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NEC but currency lapsed   +5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4370832"/>
            <a:ext cx="82296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4360" y="4370832"/>
            <a:ext cx="8092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9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 follows the dominant driver: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SRB conversation (Comp)  •  Career counseling (Stag)  •  Geographic stability (QoL)  •  Performance plan (Eng)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0" y="47548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// PRE-DECISIONAL — UNCLASSIFIED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// PRE-DECISIONAL — UNCLASSIFIED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Readiness — POC Output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across E3–E7 Sailors (4,223 total).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Distribution</a:t>
            </a:r>
            <a:endParaRPr lang="en-US" sz="13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57200" y="1508760"/>
          <a:ext cx="393192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4663440" y="1188720"/>
            <a:ext cx="4023360" cy="3337560"/>
          </a:xfrm>
          <a:prstGeom prst="rect">
            <a:avLst/>
          </a:prstGeom>
          <a:solidFill>
            <a:srgbClr val="EAF0F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663440" y="1188720"/>
            <a:ext cx="91440" cy="3337560"/>
          </a:xfrm>
          <a:prstGeom prst="rect">
            <a:avLst/>
          </a:prstGeom>
          <a:solidFill>
            <a:srgbClr val="B89B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846320" y="1280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actionable middle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846320" y="16916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B89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1,320</a:t>
            </a:r>
            <a:endParaRPr lang="en-US" sz="5600" dirty="0"/>
          </a:p>
        </p:txBody>
      </p:sp>
      <p:sp>
        <p:nvSpPr>
          <p:cNvPr id="12" name="Text 9"/>
          <p:cNvSpPr/>
          <p:nvPr/>
        </p:nvSpPr>
        <p:spPr>
          <a:xfrm>
            <a:off x="4846320" y="2514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Sailors approaching competitiveness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46320" y="28346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surfaced with a specific gap list — the actions that, if completed, move them into Competitive tier: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983480" y="333756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Time-in-rate: need 8 more months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or refresh primary NEC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50+ on next advancement exam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2 additional PQS qualifications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229600" y="47548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// PRE-DECISIONAL — UNCLASSIFIED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// PRE-DECISIONAL — UNCLASSIFIED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Readiness — How the Score Works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weighted criteria. Each gap maps to a specific action.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234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9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51960" y="12344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89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49240" y="12344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9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System (Production)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618488"/>
            <a:ext cx="8229600" cy="384048"/>
          </a:xfrm>
          <a:prstGeom prst="rect">
            <a:avLst/>
          </a:prstGeom>
          <a:solidFill>
            <a:srgbClr val="EAF0F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16184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Time-in-rate eligible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251960" y="161848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49240" y="16184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NSIPS — paygrade-specific minimums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002536"/>
            <a:ext cx="8229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200253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FITREP trait avg ≥ 3.7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251960" y="200253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49240" y="200253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NSIPS BUPERS Online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386584"/>
            <a:ext cx="8229600" cy="384048"/>
          </a:xfrm>
          <a:prstGeom prst="rect">
            <a:avLst/>
          </a:prstGeom>
          <a:solidFill>
            <a:srgbClr val="EAF0F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238658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advancement exam ≥ 50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251960" y="23865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49240" y="238658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NTMPS / advancement system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770632"/>
            <a:ext cx="8229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94360" y="277063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NEC current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251960" y="277063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49240" y="277063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NTMPS / FLTMPS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154680"/>
            <a:ext cx="8229600" cy="384048"/>
          </a:xfrm>
          <a:prstGeom prst="rect">
            <a:avLst/>
          </a:prstGeom>
          <a:solidFill>
            <a:srgbClr val="EAF0F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94360" y="31546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≥2 PQS qualifications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251960" y="31546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49240" y="31546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FLTMPS / CeTARS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3794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thresholds: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965960" y="379476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≥80 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Competitive  •  </a:t>
            </a: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60–79 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 •  </a:t>
            </a:r>
            <a:r>
              <a:rPr lang="en-US" sz="1100" b="1" dirty="0">
                <a:solidFill>
                  <a:srgbClr val="B89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40–59 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Approaching  •  </a:t>
            </a:r>
            <a:r>
              <a:rPr lang="en-US" sz="1100" b="1" dirty="0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&lt;40 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Development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251960"/>
            <a:ext cx="8229600" cy="502920"/>
          </a:xfrm>
          <a:prstGeom prst="rect">
            <a:avLst/>
          </a:prstGeom>
          <a:solidFill>
            <a:srgbClr val="EAF0F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57200" y="4251960"/>
            <a:ext cx="91440" cy="502920"/>
          </a:xfrm>
          <a:prstGeom prst="rect">
            <a:avLst/>
          </a:prstGeom>
          <a:solidFill>
            <a:srgbClr val="B89B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40080" y="42519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not just a score. 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Sailor receives a ranked list of specific gaps mapped to NECs, PQS items, courses, and exam cycles — the things their command can act on.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29600" y="47548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// PRE-DECISIONAL — UNCLASSIFIED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// PRE-DECISIONAL — UNCLASSIFIED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Rule-Based Scoring — for Now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tool for the POC stage. The right time to evolve it is next.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4630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4447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21792" y="192024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component is auditable. Leaders can see exactly why a Sailor was flagged.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46120" y="128016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0712" y="14630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86200" y="14447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410712" y="192024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are easy to socialize, debate, and refine with subject-matter experts before automation.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35040" y="128016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46304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675120" y="14447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Demonstrable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199632" y="192024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run in seconds on a laptop. No training data, GPU, or production environment needed.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57200" y="297180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15468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97280" y="313639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21792" y="361188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can only encode what we already know. They won't surface novel patterns the data contains.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3246120" y="297180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712" y="3154680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886200" y="313639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3410712" y="361188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weights is manual and slow. ML models retrain as patterns shift; rules don't.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6035040" y="297180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3154680"/>
            <a:ext cx="365760" cy="36576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675120" y="313639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Cohort-blind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6199632" y="361188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treat all Sailors the same. ML can learn that Cyber retention drivers differ from Surface.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457200" y="4709160"/>
            <a:ext cx="8229600" cy="36576"/>
          </a:xfrm>
          <a:prstGeom prst="rect">
            <a:avLst/>
          </a:prstGeom>
          <a:solidFill>
            <a:srgbClr val="B89B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3"/>
          <p:cNvSpPr/>
          <p:nvPr/>
        </p:nvSpPr>
        <p:spPr>
          <a:xfrm>
            <a:off x="8229600" y="47548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// PRE-DECISIONAL — UNCLASSIFIED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// PRE-DECISIONAL — UNCLASSIFIED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Production: Rules → Machine Learning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staged evolution that preserves auditability while adding predictive power.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18745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18745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2344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B89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1783080"/>
            <a:ext cx="1636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in production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30352" y="2423160"/>
            <a:ext cx="16367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POC logic, deployed against Jupiter data. Establishes the operational baseline.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0352" y="3566160"/>
            <a:ext cx="1636776" cy="274320"/>
          </a:xfrm>
          <a:prstGeom prst="roundRect">
            <a:avLst>
              <a:gd name="adj" fmla="val 13333"/>
            </a:avLst>
          </a:prstGeom>
          <a:solidFill>
            <a:srgbClr val="2E7D5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0352" y="3566160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Low</a:t>
            </a:r>
            <a:endParaRPr lang="en-US" sz="9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2446020"/>
            <a:ext cx="274320" cy="27432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2560320" y="1234440"/>
            <a:ext cx="18745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2560320" y="1234440"/>
            <a:ext cx="18745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2651760" y="12344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B89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679192" y="1783080"/>
            <a:ext cx="1636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+ ML in shadow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2679192" y="2423160"/>
            <a:ext cx="16367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models on historical separation/advancement outcomes. Run alongside rules; compare.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679192" y="3566160"/>
            <a:ext cx="1636776" cy="274320"/>
          </a:xfrm>
          <a:prstGeom prst="roundRect">
            <a:avLst>
              <a:gd name="adj" fmla="val 13333"/>
            </a:avLst>
          </a:prstGeom>
          <a:solidFill>
            <a:srgbClr val="2E7D5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2679192" y="3566160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Low</a:t>
            </a:r>
            <a:endParaRPr lang="en-US" sz="95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446020"/>
            <a:ext cx="274320" cy="27432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4709160" y="1234440"/>
            <a:ext cx="18745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4709160" y="1234440"/>
            <a:ext cx="18745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4800600" y="12344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B89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828032" y="1783080"/>
            <a:ext cx="1636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primary, rules guardrail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4828032" y="2423160"/>
            <a:ext cx="16367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drives predictions; rules enforce explainability floor and catch outliers.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4828032" y="3566160"/>
            <a:ext cx="1636776" cy="274320"/>
          </a:xfrm>
          <a:prstGeom prst="roundRect">
            <a:avLst>
              <a:gd name="adj" fmla="val 13333"/>
            </a:avLst>
          </a:prstGeom>
          <a:solidFill>
            <a:srgbClr val="C8810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4828032" y="3566160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Medium</a:t>
            </a:r>
            <a:endParaRPr lang="en-US" sz="950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446020"/>
            <a:ext cx="274320" cy="274320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6858000" y="1234440"/>
            <a:ext cx="18745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6"/>
          <p:cNvSpPr/>
          <p:nvPr/>
        </p:nvSpPr>
        <p:spPr>
          <a:xfrm>
            <a:off x="6858000" y="1234440"/>
            <a:ext cx="18745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/>
          <p:nvPr/>
        </p:nvSpPr>
        <p:spPr>
          <a:xfrm>
            <a:off x="6949440" y="12344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B89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6976872" y="1783080"/>
            <a:ext cx="1636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learning</a:t>
            </a:r>
            <a:endParaRPr lang="en-US" sz="1250" dirty="0"/>
          </a:p>
        </p:txBody>
      </p:sp>
      <p:sp>
        <p:nvSpPr>
          <p:cNvPr id="34" name="Text 29"/>
          <p:cNvSpPr/>
          <p:nvPr/>
        </p:nvSpPr>
        <p:spPr>
          <a:xfrm>
            <a:off x="6976872" y="2423160"/>
            <a:ext cx="16367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retrain on rolling outcome windows. Drift monitoring and human review built in.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6976872" y="3566160"/>
            <a:ext cx="1636776" cy="274320"/>
          </a:xfrm>
          <a:prstGeom prst="roundRect">
            <a:avLst>
              <a:gd name="adj" fmla="val 13333"/>
            </a:avLst>
          </a:prstGeom>
          <a:solidFill>
            <a:srgbClr val="C8810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/>
          <p:nvPr/>
        </p:nvSpPr>
        <p:spPr>
          <a:xfrm>
            <a:off x="6976872" y="3566160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Medium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365760" y="4160520"/>
            <a:ext cx="8412480" cy="502920"/>
          </a:xfrm>
          <a:prstGeom prst="rect">
            <a:avLst/>
          </a:prstGeom>
          <a:solidFill>
            <a:srgbClr val="EAF0F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3"/>
          <p:cNvSpPr/>
          <p:nvPr/>
        </p:nvSpPr>
        <p:spPr>
          <a:xfrm>
            <a:off x="365760" y="4160520"/>
            <a:ext cx="91440" cy="502920"/>
          </a:xfrm>
          <a:prstGeom prst="rect">
            <a:avLst/>
          </a:prstGeom>
          <a:solidFill>
            <a:srgbClr val="B89B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4"/>
          <p:cNvSpPr/>
          <p:nvPr/>
        </p:nvSpPr>
        <p:spPr>
          <a:xfrm>
            <a:off x="548640" y="41605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principle: 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 engineering layer (the 7 domains) does not change. Only the scoring layer evolves. Investment in the data foundation compounds across every scenario, every stage.</a:t>
            </a:r>
            <a:endParaRPr lang="en-US" sz="1100" dirty="0"/>
          </a:p>
        </p:txBody>
      </p:sp>
      <p:sp>
        <p:nvSpPr>
          <p:cNvPr id="40" name="Text 35"/>
          <p:cNvSpPr/>
          <p:nvPr/>
        </p:nvSpPr>
        <p:spPr>
          <a:xfrm>
            <a:off x="8229600" y="47548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// PRE-DECISIONAL — UNCLASSIFIED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// PRE-DECISIONAL — UNCLASSIFIED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ML Brings — Beyond Rules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gains the data foundation makes accessible.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31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50292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502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89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097280" y="13716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discovery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73736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can learn that when sea-tour count + dependent age + EFM enrollment combine in specific ways, retention risk multiplies. Rules can't reasonably encode interaction effects across 10+ variables.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17720" y="1234440"/>
            <a:ext cx="3931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17720" y="1234440"/>
            <a:ext cx="50292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17720" y="1234440"/>
            <a:ext cx="502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89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257800" y="13716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Cohort-aware scoring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57800" y="173736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separate models per community (Cyber, Nuclear, Surface, Aviation). The drivers of retention in Cyber differ from Surface. One global ruleset hides this.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3931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2971800"/>
            <a:ext cx="50292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2971800"/>
            <a:ext cx="502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89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1097280" y="31089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probabilities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347472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outputs `P(separation in 12 months) = 0.73` instead of a 0–100 score. Leaders can rank, prioritize, and budget interventions to expected impact.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17720" y="2971800"/>
            <a:ext cx="3931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17720" y="2971800"/>
            <a:ext cx="50292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17720" y="2971800"/>
            <a:ext cx="502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89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5257800" y="31089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at the case level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47472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values show — for this Sailor — which factors most increased the prediction. Auditable accountability without sacrificing predictive accuracy.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229600" y="47548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// PRE-DECISIONAL — UNCLASSIFIED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// PRE-DECISIONAL — UNCLASSIFIED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ML Requires — Three Inputs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is achievable. Each requires intentional commitment.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97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69748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35024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1887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 data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21792" y="20574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labeled outcomes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2423160"/>
            <a:ext cx="2331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separations with date and reason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advancement results by cycle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to feature snapshots at decision time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" y="4160520"/>
            <a:ext cx="2697480" cy="502920"/>
          </a:xfrm>
          <a:prstGeom prst="rect">
            <a:avLst/>
          </a:prstGeom>
          <a:solidFill>
            <a:srgbClr val="EAF0F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57200" y="4160520"/>
            <a:ext cx="54864" cy="502920"/>
          </a:xfrm>
          <a:prstGeom prst="rect">
            <a:avLst/>
          </a:prstGeom>
          <a:solidFill>
            <a:srgbClr val="B89B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85216" y="418795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B89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85216" y="43708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Jupiter access  •  3+ years history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246120" y="1188720"/>
            <a:ext cx="2697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246120" y="1188720"/>
            <a:ext cx="2697480" cy="777240"/>
          </a:xfrm>
          <a:prstGeom prst="rect">
            <a:avLst/>
          </a:prstGeom>
          <a:solidFill>
            <a:srgbClr val="B89B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335024"/>
            <a:ext cx="502920" cy="5029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023360" y="11887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environment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3410712" y="20574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B89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and serving infrastructure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3520440" y="2423160"/>
            <a:ext cx="2331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/ RPOC for production hosting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environment for training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 and version control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3246120" y="4160520"/>
            <a:ext cx="2697480" cy="502920"/>
          </a:xfrm>
          <a:prstGeom prst="rect">
            <a:avLst/>
          </a:prstGeom>
          <a:solidFill>
            <a:srgbClr val="EAF0F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3246120" y="4160520"/>
            <a:ext cx="54864" cy="502920"/>
          </a:xfrm>
          <a:prstGeom prst="rect">
            <a:avLst/>
          </a:prstGeom>
          <a:solidFill>
            <a:srgbClr val="B89B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3374136" y="418795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B89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3374136" y="43708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decision  •  ATO / IL5 path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6035040" y="1188720"/>
            <a:ext cx="2697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6035040" y="1188720"/>
            <a:ext cx="2697480" cy="777240"/>
          </a:xfrm>
          <a:prstGeom prst="rect">
            <a:avLst/>
          </a:prstGeom>
          <a:solidFill>
            <a:srgbClr val="2E7D5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335024"/>
            <a:ext cx="502920" cy="50292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812280" y="11887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governance</a:t>
            </a:r>
            <a:endParaRPr lang="en-US" sz="1600" dirty="0"/>
          </a:p>
        </p:txBody>
      </p:sp>
      <p:sp>
        <p:nvSpPr>
          <p:cNvPr id="30" name="Text 25"/>
          <p:cNvSpPr/>
          <p:nvPr/>
        </p:nvSpPr>
        <p:spPr>
          <a:xfrm>
            <a:off x="6199632" y="20574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framework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6309360" y="2423160"/>
            <a:ext cx="2331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audits across communities and demographics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monitoring on live predictions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review for high-stakes decisions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6035040" y="4160520"/>
            <a:ext cx="2697480" cy="502920"/>
          </a:xfrm>
          <a:prstGeom prst="rect">
            <a:avLst/>
          </a:prstGeom>
          <a:solidFill>
            <a:srgbClr val="EAF0F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8"/>
          <p:cNvSpPr/>
          <p:nvPr/>
        </p:nvSpPr>
        <p:spPr>
          <a:xfrm>
            <a:off x="6035040" y="4160520"/>
            <a:ext cx="54864" cy="502920"/>
          </a:xfrm>
          <a:prstGeom prst="rect">
            <a:avLst/>
          </a:prstGeom>
          <a:solidFill>
            <a:srgbClr val="B89B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6163056" y="418795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B89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50" dirty="0"/>
          </a:p>
        </p:txBody>
      </p:sp>
      <p:sp>
        <p:nvSpPr>
          <p:cNvPr id="35" name="Text 30"/>
          <p:cNvSpPr/>
          <p:nvPr/>
        </p:nvSpPr>
        <p:spPr>
          <a:xfrm>
            <a:off x="6163056" y="43708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board  •  policy from DON CIO</a:t>
            </a:r>
            <a:endParaRPr lang="en-US" sz="1050" dirty="0"/>
          </a:p>
        </p:txBody>
      </p:sp>
      <p:sp>
        <p:nvSpPr>
          <p:cNvPr id="36" name="Text 31"/>
          <p:cNvSpPr/>
          <p:nvPr/>
        </p:nvSpPr>
        <p:spPr>
          <a:xfrm>
            <a:off x="8229600" y="47548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// PRE-DECISIONAL — UNCLASSIFIED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// PRE-DECISIONAL — UNCLASSIFIED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execution. Each step delivers concrete value.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19456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B89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— 30 days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alignment &amp; data access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51760" y="1234440"/>
            <a:ext cx="6035040" cy="960120"/>
          </a:xfrm>
          <a:prstGeom prst="rect">
            <a:avLst/>
          </a:prstGeom>
          <a:solidFill>
            <a:srgbClr val="EAF0F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88920" y="128016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executive sponsorship across CNP/N16, ASN M&amp;RA, DON CIO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 Jupiter data access request for the 7 domains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cross-functional working group with PMW-240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219456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423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B89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— 90 days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697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rules deployment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651760" y="2331720"/>
            <a:ext cx="6035040" cy="960120"/>
          </a:xfrm>
          <a:prstGeom prst="rect">
            <a:avLst/>
          </a:prstGeom>
          <a:solidFill>
            <a:srgbClr val="EAF0F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88920" y="237744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POC scoring logic from synthetic data to Jupiter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one type commander; gather command feedback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signals against actual outcomes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2194560" cy="960120"/>
          </a:xfrm>
          <a:prstGeom prst="rect">
            <a:avLst/>
          </a:prstGeom>
          <a:solidFill>
            <a:srgbClr val="B89B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3520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B89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— 180 days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7947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in shadow mode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651760" y="3429000"/>
            <a:ext cx="6035040" cy="960120"/>
          </a:xfrm>
          <a:prstGeom prst="rect">
            <a:avLst/>
          </a:prstGeom>
          <a:solidFill>
            <a:srgbClr val="EAF0F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88920" y="347472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retention and promotion models on historical outcomes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alongside rules; measure lift in precision and recall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governance board; define explainability standards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B89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 existing data. Enabled through governance. Scaled through integration.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0" y="47548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17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89B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B89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508760" y="1600200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 is technically real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08760" y="1965960"/>
            <a:ext cx="7178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7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Sailors. 7 domains. Two scenarios running end-to-end on a laptop. The data model holds.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B89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508760" y="2560320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first was the right call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2926080"/>
            <a:ext cx="7178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7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Transparent, auditable, demoable today. ML is the next step — not the prerequisite for getting started.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B89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508760" y="3520440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forward is clear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08760" y="3886200"/>
            <a:ext cx="7178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7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alignment → Jupiter access → production rules → shadow ML → continuous learning. Each phase delivers value.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434840"/>
            <a:ext cx="5486400" cy="36576"/>
          </a:xfrm>
          <a:prstGeom prst="rect">
            <a:avLst/>
          </a:prstGeom>
          <a:solidFill>
            <a:srgbClr val="B89B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4B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 Data First.  Sailor Always.  Digital Twin Built Right.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48646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7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// PRE-DECISIONAL — UNCLASSIFIED   •   16 /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F21AC6-8528-0D1B-A60F-9E05B2CCE808}"/>
              </a:ext>
            </a:extLst>
          </p:cNvPr>
          <p:cNvSpPr/>
          <p:nvPr/>
        </p:nvSpPr>
        <p:spPr>
          <a:xfrm>
            <a:off x="3149977" y="2110085"/>
            <a:ext cx="284404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12617655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019503-DB53-6512-0877-72FB315E0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46" y="0"/>
            <a:ext cx="839650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723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1903</Words>
  <Application>Microsoft Office PowerPoint</Application>
  <PresentationFormat>On-screen Show (16:9)</PresentationFormat>
  <Paragraphs>318</Paragraphs>
  <Slides>18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Sailor Digital Twin — Leadership Briefing</dc:title>
  <dc:subject>PptxGenJS Presentation</dc:subject>
  <dc:creator>MyNavy HR</dc:creator>
  <cp:lastModifiedBy>Srinivas Jujjuru</cp:lastModifiedBy>
  <cp:revision>2</cp:revision>
  <dcterms:created xsi:type="dcterms:W3CDTF">2026-04-27T02:50:00Z</dcterms:created>
  <dcterms:modified xsi:type="dcterms:W3CDTF">2026-04-27T03:02:42Z</dcterms:modified>
</cp:coreProperties>
</file>